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353debf9334467" /><Relationship Type="http://schemas.openxmlformats.org/officeDocument/2006/relationships/extended-properties" Target="/docProps/app.xml" Id="R9451ee5e00714004" /><Relationship Type="http://schemas.openxmlformats.org/officeDocument/2006/relationships/officeDocument" Target="/ppt/presentation.xml" Id="R956560aca4b54a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06a32ac26043f2"/>
  </p:sldMasterIdLst>
  <p:notesMasterIdLst>
    <p:notesMasterId xmlns:r="http://schemas.openxmlformats.org/officeDocument/2006/relationships" r:id="R29df3c7886b74818"/>
  </p:notesMasterIdLst>
  <p:sldIdLst>
    <p:sldId xmlns:r="http://schemas.openxmlformats.org/officeDocument/2006/relationships" id="256" r:id="R4da17a395a1d45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614b84827946df" /><Relationship Type="http://schemas.openxmlformats.org/officeDocument/2006/relationships/slideMaster" Target="/ppt/slideMasters/slideMaster1.xml" Id="R1306a32ac26043f2" /><Relationship Type="http://schemas.openxmlformats.org/officeDocument/2006/relationships/notesMaster" Target="/ppt/notesMasters/notesMaster1.xml" Id="R29df3c7886b74818" /><Relationship Type="http://schemas.openxmlformats.org/officeDocument/2006/relationships/presProps" Target="/ppt/presProps.xml" Id="R22910e34f71e4aae" /><Relationship Type="http://schemas.openxmlformats.org/officeDocument/2006/relationships/tableStyles" Target="/ppt/tableStyles.xml" Id="Rfbf4a0ecfb66482c" /><Relationship Type="http://schemas.openxmlformats.org/officeDocument/2006/relationships/slide" Target="/ppt/slides/slide1.xml" Id="R4da17a395a1d45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1e4beac72342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edford Process Panel">
      <a:dk1>
        <a:srgbClr val="0B1423"/>
      </a:dk1>
      <a:lt1>
        <a:srgbClr val="FFFFFF"/>
      </a:lt1>
      <a:dk2>
        <a:srgbClr val="162236"/>
      </a:dk2>
      <a:lt2>
        <a:srgbClr val="D9E2EC"/>
      </a:lt2>
      <a:accent1>
        <a:srgbClr val="3D8DFF"/>
      </a:accent1>
      <a:accent2>
        <a:srgbClr val="0A7780"/>
      </a:accent2>
      <a:accent3>
        <a:srgbClr val="FFCB47"/>
      </a:accent3>
      <a:accent4>
        <a:srgbClr val="E45756"/>
      </a:accent4>
      <a:accent5>
        <a:srgbClr val="6DCBF4"/>
      </a:accent5>
      <a:accent6>
        <a:srgbClr val="5DBB63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edford Process Pane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d5044e8bc44d4b" /><Relationship Type="http://schemas.openxmlformats.org/officeDocument/2006/relationships/notesMaster" Target="/ppt/notesMasters/notesMaster1.xml" Id="Rdbb8c54ea29948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Conditioned outlet means an extractive, post-quench/sample-conditioned sidestream near 300 K—not a MOF placed directly in the raw furnace effluent. The C4/C5 targets are coverage-matched process-gas proxies, not universal claims about dominant cracker products.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https://zenodo.org/records/16754752 (D-MOPH-25 deposited computed data; accessed 2026-08-30)</a:t>
            </a:r>
          </a:p>
          <a:p xmlns:a="http://schemas.openxmlformats.org/drawingml/2006/main">
            <a:r>
              <a:t>- https://doi.org/10.1088/2632-2153/ae0241 (dataset methods, units, 300 K, and active-learning inventory)</a:t>
            </a:r>
          </a:p>
          <a:p xmlns:a="http://schemas.openxmlformats.org/drawingml/2006/main">
            <a:r>
              <a:t>- https://www.epa.gov/sites/default/files/2015-03/documents/subpartx-tsd-petrochem.pdf (ethylene-process context)</a:t>
            </a:r>
          </a:p>
          <a:p xmlns:a="http://schemas.openxmlformats.org/drawingml/2006/main">
            <a:r>
              <a:t>- https://cache.industry.siemens.com/dl/files/563/109770563/att_995347/v1/PIAAP-00002-0118-Ethylene.pdf (conditioned extractive furnace-effluent analysis context)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e3603d82e44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e1e9311f804c43" /><Relationship Type="http://schemas.openxmlformats.org/officeDocument/2006/relationships/slideLayout" Target="/ppt/slideLayouts/slideLayout1.xml" Id="R1bced9808d624a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ced9808d624a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edford Process Panel">
      <a:dk1>
        <a:srgbClr val="0B1423"/>
      </a:dk1>
      <a:lt1>
        <a:srgbClr val="FFFFFF"/>
      </a:lt1>
      <a:dk2>
        <a:srgbClr val="162236"/>
      </a:dk2>
      <a:lt2>
        <a:srgbClr val="D9E2EC"/>
      </a:lt2>
      <a:accent1>
        <a:srgbClr val="3D8DFF"/>
      </a:accent1>
      <a:accent2>
        <a:srgbClr val="0A7780"/>
      </a:accent2>
      <a:accent3>
        <a:srgbClr val="FFCB47"/>
      </a:accent3>
      <a:accent4>
        <a:srgbClr val="E45756"/>
      </a:accent4>
      <a:accent5>
        <a:srgbClr val="6DCBF4"/>
      </a:accent5>
      <a:accent6>
        <a:srgbClr val="5DBB63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edford Process Pane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20e568262343e8" /><Relationship Type="http://schemas.openxmlformats.org/officeDocument/2006/relationships/chart" Target="/ppt/slides/charts/chart1.xml" Id="R37d9d4360df14480" /><Relationship Type="http://schemas.openxmlformats.org/officeDocument/2006/relationships/notesSlide" Target="/ppt/notesSlides/notesSlide1.xml" Id="Ra7f27765896247e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Computed MOFs</c:v>
          </c:tx>
          <c:spPr>
            <a:solidFill xmlns:a="http://schemas.openxmlformats.org/drawingml/2006/main">
              <a:srgbClr val="3D8DFF"/>
            </a:solidFill>
          </c:spPr>
          <c:dPt>
            <c:idx val="5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cat>
            <c:strLit>
              <c:ptCount val="8"/>
              <c:pt idx="0">
                <c:v>Methane</c:v>
              </c:pt>
              <c:pt idx="1">
                <c:v>Ethane</c:v>
              </c:pt>
              <c:pt idx="2">
                <c:v>Ethylene</c:v>
              </c:pt>
              <c:pt idx="3">
                <c:v>Propane</c:v>
              </c:pt>
              <c:pt idx="4">
                <c:v>Propylene</c:v>
              </c:pt>
              <c:pt idx="5">
                <c:v>Isobutane</c:v>
              </c:pt>
              <c:pt idx="6">
                <c:v>Isopentane</c:v>
              </c:pt>
              <c:pt idx="7">
                <c:v>2-Pentene</c:v>
              </c:pt>
            </c:strLit>
          </c:cat>
          <c:val>
            <c:numLit>
              <c:formatCode>General</c:formatCode>
              <c:ptCount val="8"/>
              <c:pt idx="0">
                <c:v>471</c:v>
              </c:pt>
              <c:pt idx="1">
                <c:v>471</c:v>
              </c:pt>
              <c:pt idx="2">
                <c:v>471</c:v>
              </c:pt>
              <c:pt idx="3">
                <c:v>471</c:v>
              </c:pt>
              <c:pt idx="4">
                <c:v>471</c:v>
              </c:pt>
              <c:pt idx="5">
                <c:v>471</c:v>
              </c:pt>
              <c:pt idx="6">
                <c:v>471</c:v>
              </c:pt>
              <c:pt idx="7">
                <c:v>471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6223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2607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16223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accent">
            <a:extLst xmlns:a="http://schemas.openxmlformats.org/drawingml/2006/main">
              <a:ext uri="{FF2B5EF4-FFF2-40B4-BE49-F238E27FC236}">
                <a16:creationId xmlns:a16="http://schemas.microsoft.com/office/drawing/2014/main" id="{875D9255-4AE2-48BA-8040-9F30A5E1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B802E9C-9E0B-4D0D-8C92-7A40EB32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MONDAY UPDATE · ETHYLENE-CRACKER OUTLET · COMPUTED PAIRS ONLY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780059-1EC5-4A95-AE2D-CF76C94D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2236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162236"/>
                </a:solidFill>
                <a:latin typeface="Aptos Display"/>
                <a:ea typeface="Aptos Display"/>
                <a:cs typeface="Aptos Display"/>
              </a:rPr>
              <a:t>Eight process gases share a complete 471-MOF comparison set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FD892D5-1D1E-427A-86F3-565BF0C8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526071"/>
                </a:solidFill>
                <a:latin typeface="Aptos"/>
                <a:ea typeface="Aptos"/>
                <a:cs typeface="Aptos"/>
              </a:rPr>
              <a:t>The panel is ready for an apples-to-apples MOF screen; coverage alone cannot choose among the gases.</a:t>
            </a:r>
          </a:p>
        </p:txBody>
      </p:sp>
      <p:sp>
        <p:nvSpPr>
          <p:cNvPr id="5" name="coverage-card">
            <a:extLst xmlns:a="http://schemas.openxmlformats.org/drawingml/2006/main">
              <a:ext uri="{FF2B5EF4-FFF2-40B4-BE49-F238E27FC236}">
                <a16:creationId xmlns:a16="http://schemas.microsoft.com/office/drawing/2014/main" id="{FC2A568C-949B-43D4-B6ED-1375DA9C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381750" cy="350520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coverage-heading">
            <a:extLst xmlns:a="http://schemas.openxmlformats.org/drawingml/2006/main">
              <a:ext uri="{FF2B5EF4-FFF2-40B4-BE49-F238E27FC236}">
                <a16:creationId xmlns:a16="http://schemas.microsoft.com/office/drawing/2014/main" id="{88F44836-85C7-422E-A4AB-90C4E3F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223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236"/>
                </a:solidFill>
                <a:latin typeface="Aptos"/>
                <a:ea typeface="Aptos"/>
                <a:cs typeface="Aptos"/>
              </a:rPr>
              <a:t>Directly computed coverage</a:t>
            </a:r>
          </a:p>
        </p:txBody>
      </p:sp>
      <p:sp>
        <p:nvSpPr>
          <p:cNvPr id="7" name="coverage-note">
            <a:extLst xmlns:a="http://schemas.openxmlformats.org/drawingml/2006/main">
              <a:ext uri="{FF2B5EF4-FFF2-40B4-BE49-F238E27FC236}">
                <a16:creationId xmlns:a16="http://schemas.microsoft.com/office/drawing/2014/main" id="{E19C40DF-E011-457B-81B6-062FAA85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26071"/>
                </a:solidFill>
                <a:latin typeface="Aptos"/>
                <a:ea typeface="Aptos"/>
                <a:cs typeface="Aptos"/>
              </a:rPr>
              <a:t>All eight gases share the same 471 MOFs (24.3% of 1,940)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819150" y="2324100"/>
          <a:ext xmlns:a="http://schemas.openxmlformats.org/drawingml/2006/main" cx="5905500" cy="2552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d9d4360df14480"/>
          </a:graphicData>
        </a:graphic>
      </p:graphicFrame>
      <p:sp>
        <p:nvSpPr>
          <p:cNvPr id="9" name="panel-card">
            <a:extLst xmlns:a="http://schemas.openxmlformats.org/drawingml/2006/main">
              <a:ext uri="{FF2B5EF4-FFF2-40B4-BE49-F238E27FC236}">
                <a16:creationId xmlns:a16="http://schemas.microsoft.com/office/drawing/2014/main" id="{202EAB14-E4C9-4B21-8A69-2541F792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19250"/>
            <a:ext cx="4400550" cy="350520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panel-heading">
            <a:extLst xmlns:a="http://schemas.openxmlformats.org/drawingml/2006/main">
              <a:ext uri="{FF2B5EF4-FFF2-40B4-BE49-F238E27FC236}">
                <a16:creationId xmlns:a16="http://schemas.microsoft.com/office/drawing/2014/main" id="{DAE2A0AD-4472-4BEA-9695-5775C1A4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097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223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2236"/>
                </a:solidFill>
                <a:latin typeface="Aptos"/>
                <a:ea typeface="Aptos"/>
                <a:cs typeface="Aptos"/>
              </a:rPr>
              <a:t>Eight-gas target panel</a:t>
            </a:r>
          </a:p>
        </p:txBody>
      </p:sp>
      <p:sp>
        <p:nvSpPr>
          <p:cNvPr id="11" name="core-label">
            <a:extLst xmlns:a="http://schemas.openxmlformats.org/drawingml/2006/main">
              <a:ext uri="{FF2B5EF4-FFF2-40B4-BE49-F238E27FC236}">
                <a16:creationId xmlns:a16="http://schemas.microsoft.com/office/drawing/2014/main" id="{B5BC2E94-9311-4700-87CB-9968E75C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9800"/>
            <a:ext cx="2428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CORE FEED / PRODUCT GROUP</a:t>
            </a:r>
          </a:p>
        </p:txBody>
      </p:sp>
      <p:sp>
        <p:nvSpPr>
          <p:cNvPr id="12" name="core-list">
            <a:extLst xmlns:a="http://schemas.openxmlformats.org/drawingml/2006/main">
              <a:ext uri="{FF2B5EF4-FFF2-40B4-BE49-F238E27FC236}">
                <a16:creationId xmlns:a16="http://schemas.microsoft.com/office/drawing/2014/main" id="{5EC2CE0E-7AF3-4A48-8BD4-6BAAB785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57450"/>
            <a:ext cx="24003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 b="1">
                <a:solidFill>
                  <a:srgbClr val="16223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236"/>
                </a:solidFill>
                <a:latin typeface="Aptos"/>
                <a:ea typeface="Aptos"/>
                <a:cs typeface="Aptos"/>
              </a:rPr>
              <a:t>Methane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1">
                <a:solidFill>
                  <a:srgbClr val="16223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236"/>
                </a:solidFill>
                <a:latin typeface="Aptos"/>
                <a:ea typeface="Aptos"/>
                <a:cs typeface="Aptos"/>
              </a:rPr>
              <a:t>Ethane  →  Ethylene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 b="1">
                <a:solidFill>
                  <a:srgbClr val="16223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2236"/>
                </a:solidFill>
                <a:latin typeface="Aptos"/>
                <a:ea typeface="Aptos"/>
                <a:cs typeface="Aptos"/>
              </a:rPr>
              <a:t>Propane  →  Propylene</a:t>
            </a:r>
          </a:p>
        </p:txBody>
      </p:sp>
      <p:sp>
        <p:nvSpPr>
          <p:cNvPr id="13" name="panel-divider">
            <a:extLst xmlns:a="http://schemas.openxmlformats.org/drawingml/2006/main">
              <a:ext uri="{FF2B5EF4-FFF2-40B4-BE49-F238E27FC236}">
                <a16:creationId xmlns:a16="http://schemas.microsoft.com/office/drawing/2014/main" id="{7FAA56E8-9A67-40BF-A2DA-A8458D0D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2098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proxy-label">
            <a:extLst xmlns:a="http://schemas.openxmlformats.org/drawingml/2006/main">
              <a:ext uri="{FF2B5EF4-FFF2-40B4-BE49-F238E27FC236}">
                <a16:creationId xmlns:a16="http://schemas.microsoft.com/office/drawing/2014/main" id="{D0F4E412-14E3-4259-A107-998F937B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09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A77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A7780"/>
                </a:solidFill>
                <a:latin typeface="Aptos"/>
                <a:ea typeface="Aptos"/>
                <a:cs typeface="Aptos"/>
              </a:rPr>
              <a:t>C4 / C5 PROXIES</a:t>
            </a:r>
          </a:p>
        </p:txBody>
      </p:sp>
      <p:sp>
        <p:nvSpPr>
          <p:cNvPr id="15" name="proxy-list">
            <a:extLst xmlns:a="http://schemas.openxmlformats.org/drawingml/2006/main">
              <a:ext uri="{FF2B5EF4-FFF2-40B4-BE49-F238E27FC236}">
                <a16:creationId xmlns:a16="http://schemas.microsoft.com/office/drawing/2014/main" id="{C7655175-6410-481A-A3D2-42D9F876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57450"/>
            <a:ext cx="11620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6223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36"/>
                </a:solidFill>
                <a:latin typeface="Aptos"/>
                <a:ea typeface="Aptos"/>
                <a:cs typeface="Aptos"/>
              </a:rPr>
              <a:t>Isobutane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6223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36"/>
                </a:solidFill>
                <a:latin typeface="Aptos"/>
                <a:ea typeface="Aptos"/>
                <a:cs typeface="Aptos"/>
              </a:rPr>
              <a:t>Isopentane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350" b="1">
                <a:solidFill>
                  <a:srgbClr val="16223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36"/>
                </a:solidFill>
                <a:latin typeface="Aptos"/>
                <a:ea typeface="Aptos"/>
                <a:cs typeface="Aptos"/>
              </a:rPr>
              <a:t>2-Pentene</a:t>
            </a:r>
          </a:p>
        </p:txBody>
      </p:sp>
      <p:sp>
        <p:nvSpPr>
          <p:cNvPr id="16" name="pairs-stat">
            <a:extLst xmlns:a="http://schemas.openxmlformats.org/drawingml/2006/main">
              <a:ext uri="{FF2B5EF4-FFF2-40B4-BE49-F238E27FC236}">
                <a16:creationId xmlns:a16="http://schemas.microsoft.com/office/drawing/2014/main" id="{2EF63D36-FF9E-4916-90DD-300B36EC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14750"/>
            <a:ext cx="18097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irs-number">
            <a:extLst xmlns:a="http://schemas.openxmlformats.org/drawingml/2006/main">
              <a:ext uri="{FF2B5EF4-FFF2-40B4-BE49-F238E27FC236}">
                <a16:creationId xmlns:a16="http://schemas.microsoft.com/office/drawing/2014/main" id="{C31CA229-4120-4E16-A680-72493AE4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38575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223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2236"/>
                </a:solidFill>
                <a:latin typeface="Aptos Display"/>
                <a:ea typeface="Aptos Display"/>
                <a:cs typeface="Aptos Display"/>
              </a:rPr>
              <a:t>3,768</a:t>
            </a:r>
          </a:p>
        </p:txBody>
      </p:sp>
      <p:sp>
        <p:nvSpPr>
          <p:cNvPr id="18" name="pairs-label">
            <a:extLst xmlns:a="http://schemas.openxmlformats.org/drawingml/2006/main">
              <a:ext uri="{FF2B5EF4-FFF2-40B4-BE49-F238E27FC236}">
                <a16:creationId xmlns:a16="http://schemas.microsoft.com/office/drawing/2014/main" id="{15DA8609-9702-48F7-A6B2-CBD4AACE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672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computed pairs</a:t>
            </a:r>
          </a:p>
        </p:txBody>
      </p:sp>
      <p:sp>
        <p:nvSpPr>
          <p:cNvPr id="19" name="mofs-stat">
            <a:extLst xmlns:a="http://schemas.openxmlformats.org/drawingml/2006/main">
              <a:ext uri="{FF2B5EF4-FFF2-40B4-BE49-F238E27FC236}">
                <a16:creationId xmlns:a16="http://schemas.microsoft.com/office/drawing/2014/main" id="{72C22130-182E-4405-B34D-104B11C7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18859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ofs-number">
            <a:extLst xmlns:a="http://schemas.openxmlformats.org/drawingml/2006/main">
              <a:ext uri="{FF2B5EF4-FFF2-40B4-BE49-F238E27FC236}">
                <a16:creationId xmlns:a16="http://schemas.microsoft.com/office/drawing/2014/main" id="{7CD85B5F-C771-49A1-8DBB-E6A7E6D1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838575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A7780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A7780"/>
                </a:solidFill>
                <a:latin typeface="Aptos Display"/>
                <a:ea typeface="Aptos Display"/>
                <a:cs typeface="Aptos Display"/>
              </a:rPr>
              <a:t>471</a:t>
            </a:r>
          </a:p>
        </p:txBody>
      </p:sp>
      <p:sp>
        <p:nvSpPr>
          <p:cNvPr id="21" name="mofs-label">
            <a:extLst xmlns:a="http://schemas.openxmlformats.org/drawingml/2006/main">
              <a:ext uri="{FF2B5EF4-FFF2-40B4-BE49-F238E27FC236}">
                <a16:creationId xmlns:a16="http://schemas.microsoft.com/office/drawing/2014/main" id="{22C79802-DC7E-4949-A749-3989E300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26720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2607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26071"/>
                </a:solidFill>
                <a:latin typeface="Aptos"/>
                <a:ea typeface="Aptos"/>
                <a:cs typeface="Aptos"/>
              </a:rPr>
              <a:t>common MOFs</a:t>
            </a:r>
          </a:p>
        </p:txBody>
      </p:sp>
      <p:sp>
        <p:nvSpPr>
          <p:cNvPr id="22" name="dataset-strip">
            <a:extLst xmlns:a="http://schemas.openxmlformats.org/drawingml/2006/main">
              <a:ext uri="{FF2B5EF4-FFF2-40B4-BE49-F238E27FC236}">
                <a16:creationId xmlns:a16="http://schemas.microsoft.com/office/drawing/2014/main" id="{44BE25DF-4621-48CC-9420-617B9EF8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622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dataset-stats">
            <a:extLst xmlns:a="http://schemas.openxmlformats.org/drawingml/2006/main">
              <a:ext uri="{FF2B5EF4-FFF2-40B4-BE49-F238E27FC236}">
                <a16:creationId xmlns:a16="http://schemas.microsoft.com/office/drawing/2014/main" id="{A16F6B07-C504-41DA-98A6-A4362F42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1051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FULL COMPUTED DATASET    16,628 pairs   ·   1,940 MOFs   ·   113 molecules   ·   300 K   ·   linear K</a:t>
            </a:r>
          </a:p>
        </p:txBody>
      </p:sp>
      <p:sp>
        <p:nvSpPr>
          <p:cNvPr id="24" name="next-strip">
            <a:extLst xmlns:a="http://schemas.openxmlformats.org/drawingml/2006/main">
              <a:ext uri="{FF2B5EF4-FFF2-40B4-BE49-F238E27FC236}">
                <a16:creationId xmlns:a16="http://schemas.microsoft.com/office/drawing/2014/main" id="{6FF7AB17-AD15-4407-9C2B-D65FA8D2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C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ext-label">
            <a:extLst xmlns:a="http://schemas.openxmlformats.org/drawingml/2006/main">
              <a:ext uri="{FF2B5EF4-FFF2-40B4-BE49-F238E27FC236}">
                <a16:creationId xmlns:a16="http://schemas.microsoft.com/office/drawing/2014/main" id="{DFD2407C-AC2B-4AF9-A0BD-9E3E0BE2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59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223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2236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6" name="next-step">
            <a:extLst xmlns:a="http://schemas.openxmlformats.org/drawingml/2006/main">
              <a:ext uri="{FF2B5EF4-FFF2-40B4-BE49-F238E27FC236}">
                <a16:creationId xmlns:a16="http://schemas.microsoft.com/office/drawing/2014/main" id="{699C7C07-6224-48BE-ABBD-70FDE3D8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198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223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236"/>
                </a:solidFill>
                <a:latin typeface="Aptos"/>
                <a:ea typeface="Aptos"/>
                <a:cs typeface="Aptos"/>
              </a:rPr>
              <a:t>Select 12 MOFs  →  test gas identification, composition drift &amp; product/feed ratios  →  reduce if performance holds</a:t>
            </a:r>
          </a:p>
        </p:txBody>
      </p:sp>
    </p:spTree>
    <p:extLst>
      <p:ext uri="{BB962C8B-B14F-4D97-AF65-F5344CB8AC3E}">
        <p14:creationId xmlns:p14="http://schemas.microsoft.com/office/powerpoint/2010/main" val="63277234"/>
      </p:ext>
    </p:extLst>
  </p:cSld>
</p:sld>
</file>

<file path=ppt/theme/theme1.xml><?xml version="1.0" encoding="utf-8"?>
<a:theme xmlns:a="http://schemas.openxmlformats.org/drawingml/2006/main" name="ChatGPT">
  <a:themeElements>
    <a:clrScheme name="Medford Process Panel">
      <a:dk1>
        <a:srgbClr val="0B1423"/>
      </a:dk1>
      <a:lt1>
        <a:srgbClr val="FFFFFF"/>
      </a:lt1>
      <a:dk2>
        <a:srgbClr val="162236"/>
      </a:dk2>
      <a:lt2>
        <a:srgbClr val="D9E2EC"/>
      </a:lt2>
      <a:accent1>
        <a:srgbClr val="3D8DFF"/>
      </a:accent1>
      <a:accent2>
        <a:srgbClr val="0A7780"/>
      </a:accent2>
      <a:accent3>
        <a:srgbClr val="FFCB47"/>
      </a:accent3>
      <a:accent4>
        <a:srgbClr val="E45756"/>
      </a:accent4>
      <a:accent5>
        <a:srgbClr val="6DCBF4"/>
      </a:accent5>
      <a:accent6>
        <a:srgbClr val="5DBB63"/>
      </a:accent6>
      <a:hlink>
        <a:srgbClr val="2563EB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Medford Process Pane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2026-08-31T00:16:45.9830000Z</dcterms:created>
  <dcterms:modified xsi:type="dcterms:W3CDTF">2026-08-31T00:16:45.9830000Z</dcterms:modified>
</coreProperties>
</file>